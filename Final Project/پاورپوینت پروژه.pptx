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99" r:id="rId4"/>
  </p:sldMasterIdLst>
  <p:notesMasterIdLst>
    <p:notesMasterId r:id="rId37"/>
  </p:notesMasterIdLst>
  <p:handoutMasterIdLst>
    <p:handoutMasterId r:id="rId38"/>
  </p:handoutMasterIdLst>
  <p:sldIdLst>
    <p:sldId id="256" r:id="rId5"/>
    <p:sldId id="258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5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1295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824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922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032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088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020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847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398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649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24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622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206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600200"/>
            <a:ext cx="8791575" cy="1655762"/>
          </a:xfrm>
        </p:spPr>
        <p:txBody>
          <a:bodyPr>
            <a:normAutofit fontScale="90000"/>
          </a:bodyPr>
          <a:lstStyle/>
          <a:p>
            <a:pPr algn="ctr"/>
            <a:r>
              <a:rPr lang="fa-IR" sz="5400" dirty="0">
                <a:solidFill>
                  <a:schemeClr val="accent2">
                    <a:lumMod val="75000"/>
                  </a:schemeClr>
                </a:solidFill>
                <a:cs typeface="B Titr" panose="00000700000000000000" pitchFamily="2" charset="-78"/>
              </a:rPr>
              <a:t>پروژه پایانی:</a:t>
            </a:r>
            <a:br>
              <a:rPr lang="fa-IR" sz="5400" dirty="0">
                <a:solidFill>
                  <a:schemeClr val="accent2">
                    <a:lumMod val="75000"/>
                  </a:schemeClr>
                </a:solidFill>
                <a:cs typeface="B Titr" panose="00000700000000000000" pitchFamily="2" charset="-78"/>
              </a:rPr>
            </a:br>
            <a:r>
              <a:rPr lang="fa-IR" sz="5400" dirty="0">
                <a:solidFill>
                  <a:schemeClr val="accent2">
                    <a:lumMod val="75000"/>
                  </a:schemeClr>
                </a:solidFill>
                <a:cs typeface="B Titr" panose="00000700000000000000" pitchFamily="2" charset="-78"/>
              </a:rPr>
              <a:t> </a:t>
            </a:r>
            <a:r>
              <a:rPr lang="fa-IR" sz="5400" dirty="0" err="1">
                <a:solidFill>
                  <a:schemeClr val="accent2">
                    <a:lumMod val="75000"/>
                  </a:schemeClr>
                </a:solidFill>
                <a:cs typeface="B Titr" panose="00000700000000000000" pitchFamily="2" charset="-78"/>
              </a:rPr>
              <a:t>پیش‌بینی</a:t>
            </a:r>
            <a:r>
              <a:rPr lang="fa-IR" sz="5400" dirty="0">
                <a:solidFill>
                  <a:schemeClr val="accent2">
                    <a:lumMod val="75000"/>
                  </a:schemeClr>
                </a:solidFill>
                <a:cs typeface="B Titr" panose="00000700000000000000" pitchFamily="2" charset="-78"/>
              </a:rPr>
              <a:t> بیماری قلبی با یادگیری ماشین</a:t>
            </a:r>
            <a:endParaRPr lang="en-US" sz="5400" dirty="0">
              <a:solidFill>
                <a:schemeClr val="accent2">
                  <a:lumMod val="75000"/>
                </a:schemeClr>
              </a:solidFill>
              <a:latin typeface="Rockwell" panose="02060603020205020403" pitchFamily="18" charset="0"/>
              <a:cs typeface="B Titr" panose="00000700000000000000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2400" dirty="0"/>
              <a:t>امیرحسین رمضانی 40005723</a:t>
            </a:r>
          </a:p>
          <a:p>
            <a:pPr algn="ctr"/>
            <a:r>
              <a:rPr lang="fa-IR" sz="2400" dirty="0"/>
              <a:t> </a:t>
            </a:r>
            <a:r>
              <a:rPr lang="fa-IR" sz="2400" dirty="0" err="1"/>
              <a:t>مهسان</a:t>
            </a:r>
            <a:r>
              <a:rPr lang="fa-IR" sz="2400" dirty="0"/>
              <a:t> قلمی 40008153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69978"/>
            <a:ext cx="10058400" cy="1450757"/>
          </a:xfrm>
        </p:spPr>
        <p:txBody>
          <a:bodyPr>
            <a:normAutofit/>
          </a:bodyPr>
          <a:lstStyle/>
          <a:p>
            <a:pPr algn="r" rtl="1"/>
            <a:r>
              <a:rPr lang="fa-IR" sz="4400" dirty="0">
                <a:solidFill>
                  <a:schemeClr val="accent2">
                    <a:lumMod val="75000"/>
                  </a:schemeClr>
                </a:solidFill>
                <a:cs typeface="B Titr" panose="00000700000000000000" pitchFamily="2" charset="-78"/>
              </a:rPr>
              <a:t>تعریف مسئله و اهمیت </a:t>
            </a:r>
            <a:r>
              <a:rPr lang="fa-IR" sz="4400" dirty="0" err="1">
                <a:solidFill>
                  <a:schemeClr val="accent2">
                    <a:lumMod val="75000"/>
                  </a:schemeClr>
                </a:solidFill>
                <a:cs typeface="B Titr" panose="00000700000000000000" pitchFamily="2" charset="-78"/>
              </a:rPr>
              <a:t>متریک‌ها</a:t>
            </a:r>
            <a:endParaRPr lang="en-US" sz="4400" dirty="0">
              <a:solidFill>
                <a:schemeClr val="accent2">
                  <a:lumMod val="75000"/>
                </a:schemeClr>
              </a:solidFill>
              <a:latin typeface="Rockwell" panose="02060603020205020403" pitchFamily="18" charset="0"/>
              <a:cs typeface="B Titr" panose="000007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7476" y="2097088"/>
            <a:ext cx="9905999" cy="3541714"/>
          </a:xfrm>
        </p:spPr>
        <p:txBody>
          <a:bodyPr>
            <a:normAutofit/>
          </a:bodyPr>
          <a:lstStyle/>
          <a:p>
            <a:pPr lvl="1" algn="r" rtl="1"/>
            <a:r>
              <a:rPr lang="fa-IR" sz="24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کلاسبندی </a:t>
            </a:r>
            <a:r>
              <a:rPr lang="fa-IR" sz="2400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باینری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fa-IR" sz="24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در پزشکی: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FN</a:t>
            </a:r>
            <a:r>
              <a:rPr lang="fa-IR" sz="24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یعنی منفی کاذب </a:t>
            </a:r>
            <a:r>
              <a:rPr lang="fa-IR" sz="2400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بحرانی‌تر</a:t>
            </a:r>
            <a:r>
              <a:rPr lang="fa-IR" sz="24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از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FP</a:t>
            </a:r>
            <a:endParaRPr lang="fa-IR" sz="2400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fa-IR" sz="24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تعدادی از </a:t>
            </a:r>
            <a:r>
              <a:rPr lang="fa-IR" sz="2400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متریک</a:t>
            </a:r>
            <a:r>
              <a:rPr lang="fa-IR" sz="24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های مورد استفاده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2" algn="r" rtl="1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Accuracy</a:t>
            </a:r>
          </a:p>
          <a:p>
            <a:pPr lvl="2" algn="r" rtl="1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Precision, Recall</a:t>
            </a:r>
            <a:endParaRPr lang="fa-IR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 algn="r" rtl="1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F1, ROC-AUC, PR-AUC(AP)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4B4D1D-ED8F-43D7-81DC-1D29C0A70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48" y="2161907"/>
            <a:ext cx="4621165" cy="297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179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4400" dirty="0">
                <a:solidFill>
                  <a:schemeClr val="accent2">
                    <a:lumMod val="75000"/>
                  </a:schemeClr>
                </a:solidFill>
                <a:cs typeface="B Titr" panose="00000700000000000000" pitchFamily="2" charset="-78"/>
              </a:rPr>
              <a:t>معرفی </a:t>
            </a:r>
            <a:r>
              <a:rPr lang="fa-IR" sz="4400" dirty="0" err="1">
                <a:solidFill>
                  <a:schemeClr val="accent2">
                    <a:lumMod val="75000"/>
                  </a:schemeClr>
                </a:solidFill>
                <a:cs typeface="B Titr" panose="00000700000000000000" pitchFamily="2" charset="-78"/>
              </a:rPr>
              <a:t>دیتاست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cs typeface="B Titr" panose="00000700000000000000" pitchFamily="2" charset="-78"/>
              </a:rPr>
              <a:t> و توزیع </a:t>
            </a:r>
            <a:r>
              <a:rPr lang="fa-IR" sz="4400" dirty="0" err="1">
                <a:solidFill>
                  <a:schemeClr val="accent2">
                    <a:lumMod val="75000"/>
                  </a:schemeClr>
                </a:solidFill>
                <a:cs typeface="B Titr" panose="00000700000000000000" pitchFamily="2" charset="-78"/>
              </a:rPr>
              <a:t>کلاس‌ها</a:t>
            </a:r>
            <a:endParaRPr lang="en-US" sz="4400" dirty="0">
              <a:solidFill>
                <a:schemeClr val="accent2">
                  <a:lumMod val="75000"/>
                </a:schemeClr>
              </a:solidFill>
              <a:latin typeface="Rockwell" panose="02060603020205020403" pitchFamily="18" charset="0"/>
              <a:cs typeface="B Titr" panose="000007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7476" y="2097088"/>
            <a:ext cx="9905999" cy="3541714"/>
          </a:xfrm>
        </p:spPr>
        <p:txBody>
          <a:bodyPr>
            <a:normAutofit/>
          </a:bodyPr>
          <a:lstStyle/>
          <a:p>
            <a:pPr algn="r" rtl="1"/>
            <a:r>
              <a:rPr lang="fa-IR" sz="2400" b="1" dirty="0" err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دیتاست</a:t>
            </a:r>
            <a:r>
              <a:rPr lang="fa-IR" sz="24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: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Heart Disease (Kaggle/UCI)</a:t>
            </a:r>
            <a:endParaRPr lang="fa-IR" sz="2400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24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ابعاد: </a:t>
            </a:r>
            <a:r>
              <a:rPr lang="fa-IR" sz="24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303 نمونه، 13 ویژگی + 1 هدف</a:t>
            </a:r>
          </a:p>
          <a:p>
            <a:pPr algn="r" rtl="1"/>
            <a:r>
              <a:rPr lang="fa-IR" sz="24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توزیع </a:t>
            </a:r>
            <a:r>
              <a:rPr lang="fa-IR" sz="2400" b="1" dirty="0" err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کلاس‌ها</a:t>
            </a:r>
            <a:r>
              <a:rPr lang="fa-IR" sz="24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:</a:t>
            </a:r>
          </a:p>
          <a:p>
            <a:pPr lvl="1" algn="r" rtl="1"/>
            <a:r>
              <a:rPr lang="fa-IR" sz="20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کلاس 1 ≈ 165 نمونه (~54%)</a:t>
            </a:r>
          </a:p>
          <a:p>
            <a:pPr lvl="1" algn="r" rtl="1"/>
            <a:r>
              <a:rPr lang="fa-IR" sz="20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کلاس 0 ≈ 138 نمونه (~46%)</a:t>
            </a:r>
          </a:p>
          <a:p>
            <a:pPr lvl="1" algn="r" rtl="1"/>
            <a:r>
              <a:rPr lang="fa-IR" sz="2000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نتیجه: </a:t>
            </a:r>
            <a:r>
              <a:rPr lang="fa-IR" sz="20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داده خیلی </a:t>
            </a:r>
            <a:r>
              <a:rPr lang="fa-IR" sz="2000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نامتوازن</a:t>
            </a:r>
            <a:r>
              <a:rPr lang="fa-IR" sz="20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نیست، اما کوچک است </a:t>
            </a:r>
            <a:r>
              <a:rPr lang="fa-IR" sz="20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  <a:sym typeface="Wingdings" panose="05000000000000000000" pitchFamily="2" charset="2"/>
              </a:rPr>
              <a:t></a:t>
            </a:r>
            <a:r>
              <a:rPr lang="fa-IR" sz="20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نیاز به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CV </a:t>
            </a:r>
            <a:r>
              <a:rPr lang="fa-IR" sz="20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پایدار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0D6DE0-F49E-4110-B26C-FA5F4333FE6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67" y="2469420"/>
            <a:ext cx="4601662" cy="279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800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4400" dirty="0" err="1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ویژگی‌ها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و منطق تفکیک</a:t>
            </a:r>
            <a:endParaRPr lang="en-US" sz="4400" dirty="0">
              <a:solidFill>
                <a:schemeClr val="accent2">
                  <a:lumMod val="75000"/>
                </a:schemeClr>
              </a:solidFill>
              <a:latin typeface="Rockwell" panose="02060603020205020403" pitchFamily="18" charset="0"/>
              <a:cs typeface="B Titr" panose="000007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1484" y="2123465"/>
            <a:ext cx="9905999" cy="3541714"/>
          </a:xfrm>
        </p:spPr>
        <p:txBody>
          <a:bodyPr>
            <a:normAutofit/>
          </a:bodyPr>
          <a:lstStyle/>
          <a:p>
            <a:pPr algn="r" rtl="1"/>
            <a:r>
              <a:rPr lang="fa-IR" sz="2400" b="1" dirty="0" err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ویژگی‌های</a:t>
            </a:r>
            <a:r>
              <a:rPr lang="fa-IR" sz="24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 عددی (پیوسته):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age,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trestbps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chol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thalach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oldpeak</a:t>
            </a:r>
            <a:endParaRPr lang="fa-IR" sz="2400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2400" b="1" dirty="0" err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ویژگی‌های</a:t>
            </a:r>
            <a:r>
              <a:rPr lang="fa-IR" sz="24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 </a:t>
            </a:r>
            <a:r>
              <a:rPr lang="fa-IR" sz="2400" b="1" dirty="0" err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دسته‌ای</a:t>
            </a:r>
            <a:r>
              <a:rPr lang="fa-IR" sz="24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/گسسته: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sex, cp,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fbs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restecg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exang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, slope, ca,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thal</a:t>
            </a:r>
            <a:endParaRPr lang="fa-IR" sz="2400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24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دلیل تفکیک:</a:t>
            </a:r>
          </a:p>
          <a:p>
            <a:pPr lvl="1" algn="r" rtl="1"/>
            <a:r>
              <a:rPr lang="fa-IR" sz="2000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عددی‌ها</a:t>
            </a:r>
            <a:r>
              <a:rPr lang="fa-IR" sz="20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: احتمال نیاز به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Scaling </a:t>
            </a:r>
            <a:r>
              <a:rPr lang="fa-IR" sz="20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برای مدل ‌های خطی</a:t>
            </a:r>
          </a:p>
          <a:p>
            <a:pPr lvl="1" algn="r" rtl="1"/>
            <a:r>
              <a:rPr lang="fa-IR" sz="2000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دسته‌ای‌ها</a:t>
            </a:r>
            <a:r>
              <a:rPr lang="fa-IR" sz="20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: نیاز به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One-Hot Encoding</a:t>
            </a:r>
            <a:endParaRPr lang="fa-IR" sz="2000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fa-IR" sz="20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هدف: طراحی </a:t>
            </a:r>
            <a:r>
              <a:rPr lang="fa-IR" sz="2000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پیش‌پردازش</a:t>
            </a:r>
            <a:r>
              <a:rPr lang="fa-IR" sz="2000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درست و منصفانه برای تمام </a:t>
            </a:r>
            <a:r>
              <a:rPr lang="fa-IR" sz="2000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مدل‌ها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1810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Pipeline 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و جلوگیری از 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Leakage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9681" y="2079504"/>
            <a:ext cx="9905999" cy="3541714"/>
          </a:xfrm>
        </p:spPr>
        <p:txBody>
          <a:bodyPr>
            <a:normAutofit/>
          </a:bodyPr>
          <a:lstStyle/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مشکل رایج: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Data Leakage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Fit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کردن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imputer/scaler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روی کل داده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  <a:sym typeface="Wingdings" panose="05000000000000000000" pitchFamily="2" charset="2"/>
              </a:rPr>
              <a:t>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نشت اطلاعات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test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b="1" dirty="0" err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راه‌حل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: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استفاده از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Pipeline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و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ColumnTransformer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مزایا:</a:t>
            </a: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ارزیابی منصفانه در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Cross-Validation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اجرای یکپارچه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preprocess+model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تکرارپذیری و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گزارش‌پذیری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73967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جزئیات پیش‌ پردازش</a:t>
            </a:r>
            <a:endParaRPr lang="en-US" sz="4400" dirty="0">
              <a:solidFill>
                <a:schemeClr val="accent2">
                  <a:lumMod val="75000"/>
                </a:schemeClr>
              </a:solidFill>
              <a:latin typeface="Rockwell" panose="02060603020205020403" pitchFamily="18" charset="0"/>
              <a:cs typeface="B Titr" panose="000007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4760" y="2097088"/>
            <a:ext cx="9905999" cy="3541714"/>
          </a:xfrm>
        </p:spPr>
        <p:txBody>
          <a:bodyPr>
            <a:normAutofit/>
          </a:bodyPr>
          <a:lstStyle/>
          <a:p>
            <a:pPr algn="r" rtl="1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Numeric pipeline</a:t>
            </a:r>
            <a:endParaRPr lang="fa-IR" b="1" dirty="0">
              <a:solidFill>
                <a:schemeClr val="accent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SimpleImputer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(strategy="median")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StandardScaler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()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رای مدل ‌های حساس به مقیاس</a:t>
            </a:r>
          </a:p>
          <a:p>
            <a:pPr algn="r" rtl="1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Categorical pipeline</a:t>
            </a:r>
            <a:endParaRPr lang="fa-IR" b="1" dirty="0">
              <a:solidFill>
                <a:schemeClr val="accent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SimpleImputer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(strategy="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most_frequent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")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OneHotEncoder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(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handle_unknown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="ignore")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خروجی: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یک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ماتریس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ویژگی استاندارد و سازگار برای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مدل‌ها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49188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EDA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: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همبستگی ویژگی ‌های عددی</a:t>
            </a:r>
            <a:endParaRPr lang="en-US" sz="4400" dirty="0">
              <a:solidFill>
                <a:schemeClr val="accent2">
                  <a:lumMod val="75000"/>
                </a:schemeClr>
              </a:solidFill>
              <a:latin typeface="Rockwell" panose="02060603020205020403" pitchFamily="18" charset="0"/>
              <a:cs typeface="B Titr" panose="000007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9681" y="2228634"/>
            <a:ext cx="9905999" cy="2892007"/>
          </a:xfrm>
        </p:spPr>
        <p:txBody>
          <a:bodyPr>
            <a:normAutofit/>
          </a:bodyPr>
          <a:lstStyle/>
          <a:p>
            <a:pPr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تحلیل همبستگی برای شناخت روابط و ریسک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هم‌خطی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b="1" dirty="0" err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یافته‌های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 نمونه:</a:t>
            </a:r>
          </a:p>
          <a:p>
            <a:pPr lvl="1"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age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با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thalach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همبستگی منفی</a:t>
            </a:r>
          </a:p>
          <a:p>
            <a:pPr lvl="1" algn="r" rtl="1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Oldpeak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با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slope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همبستگی منفی قابل توجه</a:t>
            </a: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همبستگی بسیار شدید محدود ← خطر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multicollinearity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کمتر</a:t>
            </a:r>
          </a:p>
          <a:p>
            <a:pPr marL="457200" lvl="1" indent="0" algn="r" rtl="1">
              <a:buNone/>
            </a:pP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88592C-002B-4823-9411-E3E63CA8A18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03" y="1872499"/>
            <a:ext cx="4120398" cy="363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14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آزمایش اثر 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Scaling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روی 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3650" y="1982996"/>
            <a:ext cx="9905999" cy="2892007"/>
          </a:xfrm>
        </p:spPr>
        <p:txBody>
          <a:bodyPr>
            <a:normAutofit/>
          </a:bodyPr>
          <a:lstStyle/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آزمایش کنترل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 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‌شده:</a:t>
            </a:r>
          </a:p>
          <a:p>
            <a:pPr lvl="1"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RF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بدون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scaler</a:t>
            </a:r>
          </a:p>
          <a:p>
            <a:pPr lvl="1"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RF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با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scaler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marL="201168" lvl="1" indent="0" algn="r" rtl="1">
              <a:buNone/>
            </a:pPr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نتیجه: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B Zar" panose="00000400000000000000" pitchFamily="2" charset="-78"/>
            </a:endParaRPr>
          </a:p>
          <a:p>
            <a:pPr lvl="1" algn="r" rtl="1"/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متریک‌ها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تقریباً ثابت ←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scaling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ضروری نیست</a:t>
            </a:r>
          </a:p>
          <a:p>
            <a:pPr lvl="1" algn="r" rtl="1"/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مدل‌های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درختی با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threshold split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کار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می‌کنند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← نسبت به مقیاس حساسیت کم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7A890E-BE1D-4997-9D70-14C63759F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791" y="4450023"/>
            <a:ext cx="9655377" cy="134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030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PCA 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هدف و نحوه استفاده</a:t>
            </a:r>
            <a:endParaRPr lang="en-US" sz="4400" dirty="0">
              <a:solidFill>
                <a:schemeClr val="accent2">
                  <a:lumMod val="75000"/>
                </a:schemeClr>
              </a:solidFill>
              <a:latin typeface="Rockwell" panose="02060603020205020403" pitchFamily="18" charset="0"/>
              <a:cs typeface="B Titr" panose="000007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13" y="2097088"/>
            <a:ext cx="9905999" cy="2892007"/>
          </a:xfrm>
        </p:spPr>
        <p:txBody>
          <a:bodyPr>
            <a:normAutofit/>
          </a:bodyPr>
          <a:lstStyle/>
          <a:p>
            <a:pPr algn="r" rtl="1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PCA 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برای:</a:t>
            </a: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کاهش بعد/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نویز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کنترل پیچیدگی و کمک به تعمیم (خصوصا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در مدل‌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های خطی)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 PCA 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داخل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Pipeline </a:t>
            </a: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جلوگیری از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leakage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مقادیر </a:t>
            </a:r>
            <a:r>
              <a:rPr lang="fa-IR" b="1" dirty="0" err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تست‌شده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n_components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= 0.90 / 0.95 / 0.99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87593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Scree 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و </a:t>
            </a:r>
            <a:r>
              <a:rPr lang="fa-IR" sz="4400" dirty="0" err="1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واریانس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</a:t>
            </a:r>
            <a:r>
              <a:rPr lang="fa-IR" sz="4400" dirty="0" err="1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تجمعی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PCA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9681" y="1886073"/>
            <a:ext cx="9905999" cy="2892007"/>
          </a:xfrm>
        </p:spPr>
        <p:txBody>
          <a:bodyPr>
            <a:normAutofit/>
          </a:bodyPr>
          <a:lstStyle/>
          <a:p>
            <a:pPr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:Scree plot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سهم هر مؤلفه از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واریانس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:Cumulative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تعداد مؤلفه لازم برای رسیدن به 90/95/99%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b="1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انتخاب مناسب = تعادل بین:</a:t>
            </a: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حفظ اطلاعات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کاهش پیچیدگی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42966D-526E-4CA7-8E4C-7B570607D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7" y="3156888"/>
            <a:ext cx="3988513" cy="30064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CEA201-C32B-4E04-9C5C-2B68ADC33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950" y="3156888"/>
            <a:ext cx="3948059" cy="300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982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t-SNE 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برای نمایش </a:t>
            </a:r>
            <a:r>
              <a:rPr lang="fa-IR" sz="4400" dirty="0" err="1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دوبعدی</a:t>
            </a:r>
            <a:endParaRPr lang="en-US" sz="4400" dirty="0">
              <a:solidFill>
                <a:schemeClr val="accent2">
                  <a:lumMod val="75000"/>
                </a:schemeClr>
              </a:solidFill>
              <a:latin typeface="Rockwell" panose="02060603020205020403" pitchFamily="18" charset="0"/>
              <a:cs typeface="B Titr" panose="000007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9681" y="2061919"/>
            <a:ext cx="9905999" cy="2892007"/>
          </a:xfrm>
        </p:spPr>
        <p:txBody>
          <a:bodyPr>
            <a:normAutofit/>
          </a:bodyPr>
          <a:lstStyle/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هدف: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نمایش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شهودی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قابلیت جداسازی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کلاس‌ها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روش:</a:t>
            </a: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کاهش اولیه با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PCA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برای کاهش هزینه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محاسباتی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سپس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t-SNE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روی نمای کم ‌بعد</a:t>
            </a:r>
          </a:p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مشاهده: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جداسازی نسبی + همپوشانی 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0BF3AE-1D78-4577-9530-537B07672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25" y="1950911"/>
            <a:ext cx="4718206" cy="365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084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مدل‌ های انتخاب ‌شده و دلیل انتخاب</a:t>
            </a:r>
            <a:endParaRPr lang="en-US" sz="4400" dirty="0">
              <a:solidFill>
                <a:schemeClr val="accent2">
                  <a:lumMod val="75000"/>
                </a:schemeClr>
              </a:solidFill>
              <a:latin typeface="Rockwell" panose="02060603020205020403" pitchFamily="18" charset="0"/>
              <a:cs typeface="B Titr" panose="000007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92660"/>
            <a:ext cx="9905999" cy="3164723"/>
          </a:xfrm>
        </p:spPr>
        <p:txBody>
          <a:bodyPr>
            <a:normAutofit/>
          </a:bodyPr>
          <a:lstStyle/>
          <a:p>
            <a:pPr algn="r" rtl="1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Logistic Regression</a:t>
            </a:r>
            <a:endParaRPr lang="fa-IR" b="1" dirty="0">
              <a:solidFill>
                <a:schemeClr val="accent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baseline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تفسیرپذیر + سریع</a:t>
            </a:r>
          </a:p>
          <a:p>
            <a:pPr algn="r" rtl="1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Random Forest</a:t>
            </a:r>
            <a:endParaRPr lang="fa-IR" b="1" dirty="0">
              <a:solidFill>
                <a:schemeClr val="accent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غیرخطی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+ تعامل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ویژگی‌ها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AdaBoost</a:t>
            </a:r>
            <a:endParaRPr lang="fa-IR" b="1" dirty="0">
              <a:solidFill>
                <a:schemeClr val="accent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boosting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ترتیبی + بهبود روی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نمونه‌های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سخت</a:t>
            </a:r>
          </a:p>
          <a:p>
            <a:pPr algn="r" rtl="1"/>
            <a:r>
              <a:rPr lang="fa-IR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هدف: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مقایسه سه خانواده متفاوت با پروتکل یکسان</a:t>
            </a:r>
          </a:p>
        </p:txBody>
      </p:sp>
    </p:spTree>
    <p:extLst>
      <p:ext uri="{BB962C8B-B14F-4D97-AF65-F5344CB8AC3E}">
        <p14:creationId xmlns:p14="http://schemas.microsoft.com/office/powerpoint/2010/main" val="695718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2257"/>
            <a:ext cx="9905998" cy="1478570"/>
          </a:xfrm>
        </p:spPr>
        <p:txBody>
          <a:bodyPr>
            <a:normAutofit/>
          </a:bodyPr>
          <a:lstStyle/>
          <a:p>
            <a:pPr algn="r" rtl="1"/>
            <a:r>
              <a:rPr lang="en-US" sz="4400" dirty="0">
                <a:latin typeface="Rockwell" panose="02060603020205020403" pitchFamily="18" charset="0"/>
              </a:rPr>
              <a:t> 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پروتکل ارزیابی و تکرارپذیری</a:t>
            </a:r>
            <a:endParaRPr lang="en-US" sz="4400" dirty="0">
              <a:solidFill>
                <a:schemeClr val="accent2">
                  <a:lumMod val="75000"/>
                </a:schemeClr>
              </a:solidFill>
              <a:latin typeface="Rockwell" panose="02060603020205020403" pitchFamily="18" charset="0"/>
              <a:cs typeface="B Titr" panose="000007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65466"/>
            <a:ext cx="9905999" cy="3164723"/>
          </a:xfrm>
        </p:spPr>
        <p:txBody>
          <a:bodyPr>
            <a:normAutofit/>
          </a:bodyPr>
          <a:lstStyle/>
          <a:p>
            <a:pPr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Split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با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stratify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برای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حفظ نسبت کلاس ‌ها</a:t>
            </a:r>
          </a:p>
          <a:p>
            <a:pPr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CV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پایدار: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RepeatedStratifiedKFold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گزارش </a:t>
            </a:r>
            <a:r>
              <a:rPr lang="fa-IR" b="1" dirty="0" err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چندمعیاره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:</a:t>
            </a:r>
          </a:p>
          <a:p>
            <a:pPr lvl="1"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Accuracy, F1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،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ROC-AUC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، 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PR-AUC(AP)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CB8C71-6F2E-4253-B8B8-DA6FDBA30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983" y="3429000"/>
            <a:ext cx="8580864" cy="230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132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53644"/>
            <a:ext cx="9905998" cy="1478570"/>
          </a:xfrm>
        </p:spPr>
        <p:txBody>
          <a:bodyPr>
            <a:normAutofit/>
          </a:bodyPr>
          <a:lstStyle/>
          <a:p>
            <a:pPr algn="r" rtl="1"/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چارچوب 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Hyperparameter Tuning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81349"/>
            <a:ext cx="9905999" cy="3164723"/>
          </a:xfrm>
        </p:spPr>
        <p:txBody>
          <a:bodyPr>
            <a:normAutofit/>
          </a:bodyPr>
          <a:lstStyle/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هدف: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یافتن بهترین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تنظیمات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با کمترین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overfitting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b="1" dirty="0" err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روش‌ها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:</a:t>
            </a:r>
          </a:p>
          <a:p>
            <a:pPr lvl="1" algn="r" rtl="1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GridSearchCV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برای فضای کوچک</a:t>
            </a:r>
          </a:p>
          <a:p>
            <a:pPr lvl="1" algn="r" rtl="1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RandomizedSearchCV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برای فضای بزرگ مثل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RF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</a:p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معیار انتخاب: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F1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تعادل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precision/recall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marL="457200" lvl="1" indent="0" algn="r" rtl="1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91448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294552"/>
            <a:ext cx="9905998" cy="1478570"/>
          </a:xfrm>
        </p:spPr>
        <p:txBody>
          <a:bodyPr>
            <a:normAutofit/>
          </a:bodyPr>
          <a:lstStyle/>
          <a:p>
            <a:pPr algn="r" rtl="1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</a:t>
            </a:r>
            <a:r>
              <a:rPr lang="fa-IR" sz="4400" dirty="0" err="1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تیونینگ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</a:t>
            </a:r>
            <a:r>
              <a:rPr lang="en-US" sz="4400" dirty="0" err="1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LogReg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+ PCA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(نتیجه و تفسیر)</a:t>
            </a:r>
            <a:endParaRPr lang="en-US" sz="4400" dirty="0">
              <a:solidFill>
                <a:schemeClr val="accent2">
                  <a:lumMod val="75000"/>
                </a:schemeClr>
              </a:solidFill>
              <a:latin typeface="Rockwell" panose="02060603020205020403" pitchFamily="18" charset="0"/>
              <a:cs typeface="B Titr" panose="000007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81349"/>
            <a:ext cx="9905999" cy="3164723"/>
          </a:xfrm>
        </p:spPr>
        <p:txBody>
          <a:bodyPr>
            <a:normAutofit/>
          </a:bodyPr>
          <a:lstStyle/>
          <a:p>
            <a:pPr algn="r" rtl="1"/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Best Params</a:t>
            </a:r>
            <a:r>
              <a:rPr lang="fa-IR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:</a:t>
            </a:r>
          </a:p>
          <a:p>
            <a:pPr lvl="1"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C = 0.1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 و 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PCA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n_components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≈ 0.99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Best CV-F1 ≈ 0.88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برداشت:</a:t>
            </a:r>
          </a:p>
          <a:p>
            <a:pPr lvl="1"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regularization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قوی‌تر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در داده کوچک مفید است</a:t>
            </a:r>
          </a:p>
          <a:p>
            <a:pPr lvl="1"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PCA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خیلی تهاجمی (0.90) ممکن است اطلاعات را حذف کند</a:t>
            </a:r>
          </a:p>
          <a:p>
            <a:pPr marL="0" indent="0" algn="r" rtl="1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C7927E-FBB0-4EB6-886C-63414A78A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823" y="4684902"/>
            <a:ext cx="9413173" cy="561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ED3146-1F0B-4E69-8578-C3DDAB930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1" y="2697804"/>
            <a:ext cx="4449995" cy="121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116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17660"/>
            <a:ext cx="9905998" cy="1478570"/>
          </a:xfrm>
        </p:spPr>
        <p:txBody>
          <a:bodyPr>
            <a:normAutofit/>
          </a:bodyPr>
          <a:lstStyle/>
          <a:p>
            <a:pPr algn="r" rtl="1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</a:t>
            </a:r>
            <a:r>
              <a:rPr lang="fa-IR" sz="4400" dirty="0" err="1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تیونینگ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Random Forest 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( </a:t>
            </a:r>
            <a:r>
              <a:rPr lang="fa-IR" sz="4400" dirty="0" err="1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پارامترها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و منطق)</a:t>
            </a:r>
            <a:endParaRPr lang="en-US" sz="4400" dirty="0">
              <a:solidFill>
                <a:schemeClr val="accent2">
                  <a:lumMod val="75000"/>
                </a:schemeClr>
              </a:solidFill>
              <a:latin typeface="Rockwell" panose="02060603020205020403" pitchFamily="18" charset="0"/>
              <a:cs typeface="B Titr" panose="000007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81349"/>
            <a:ext cx="9905999" cy="3164723"/>
          </a:xfrm>
        </p:spPr>
        <p:txBody>
          <a:bodyPr>
            <a:normAutofit/>
          </a:bodyPr>
          <a:lstStyle/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هدف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RF tuning: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کنترل ظرفیت + کاهش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واریانس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پارامترهای کلیدی:</a:t>
            </a:r>
          </a:p>
          <a:p>
            <a:pPr lvl="1" algn="r" rtl="1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n_estimators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r" rtl="1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max_depth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r" rtl="1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min_samples_leaf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/ split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r" rtl="1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max_features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r" rtl="1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max_samples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Best CV-F1 ≈ 0.88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r" rtl="1"/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5CEF-AACA-467C-BE98-358CD2596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09" y="2989681"/>
            <a:ext cx="6573910" cy="22563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55A1E3-90E7-4A64-A9C5-D583BA398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689" y="5402768"/>
            <a:ext cx="10417443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744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80823"/>
            <a:ext cx="9905998" cy="1478570"/>
          </a:xfrm>
        </p:spPr>
        <p:txBody>
          <a:bodyPr>
            <a:normAutofit/>
          </a:bodyPr>
          <a:lstStyle/>
          <a:p>
            <a:pPr algn="r" rtl="1"/>
            <a:r>
              <a:rPr lang="fa-IR" sz="4400" dirty="0" err="1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تیونینگ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AdaBoost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(نتیجه و برداشت)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81349"/>
            <a:ext cx="9905999" cy="3164723"/>
          </a:xfrm>
        </p:spPr>
        <p:txBody>
          <a:bodyPr>
            <a:normAutofit/>
          </a:bodyPr>
          <a:lstStyle/>
          <a:p>
            <a:pPr algn="r" rtl="1"/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Best Params</a:t>
            </a:r>
            <a:r>
              <a:rPr lang="fa-IR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lvl="1"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estimator depth = 1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r" rtl="1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learning_rate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0.05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r" rtl="1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n_estimators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100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Best CV-F1 ≈ 0.8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برداشت: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lr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کوچک‌تر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  <a:sym typeface="Wingdings" panose="05000000000000000000" pitchFamily="2" charset="2"/>
              </a:rPr>
              <a:t>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اصلاح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تدریجی‌تر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  <a:sym typeface="Wingdings" panose="05000000000000000000" pitchFamily="2" charset="2"/>
              </a:rPr>
              <a:t>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پایداری بیشتر</a:t>
            </a:r>
          </a:p>
          <a:p>
            <a:pPr marL="0" indent="0" algn="r" rtl="1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952A03-5FC4-4BCE-9257-235F8444B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2421524"/>
            <a:ext cx="5215790" cy="10074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B93D97-2D47-4B19-809A-FA8960185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2" y="4564428"/>
            <a:ext cx="9169565" cy="57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025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12081"/>
            <a:ext cx="9905998" cy="1478570"/>
          </a:xfrm>
        </p:spPr>
        <p:txBody>
          <a:bodyPr>
            <a:normAutofit/>
          </a:bodyPr>
          <a:lstStyle/>
          <a:p>
            <a:pPr algn="r" rtl="1"/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مقایسه </a:t>
            </a:r>
            <a:r>
              <a:rPr lang="fa-IR" sz="4400" dirty="0" err="1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مقادیرخروجی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</a:t>
            </a:r>
            <a:r>
              <a:rPr lang="fa-IR" sz="4400" dirty="0" err="1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تیون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شده و </a:t>
            </a:r>
            <a:r>
              <a:rPr lang="fa-IR" sz="4400" dirty="0" err="1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تیون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نشده</a:t>
            </a:r>
            <a:endParaRPr lang="en-US" sz="4400" dirty="0">
              <a:solidFill>
                <a:schemeClr val="accent2">
                  <a:lumMod val="75000"/>
                </a:schemeClr>
              </a:solidFill>
              <a:latin typeface="Rockwell" panose="02060603020205020403" pitchFamily="18" charset="0"/>
              <a:cs typeface="B Titr" panose="00000700000000000000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1B85D6-C726-4BB6-878C-F8F120CB2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940" y="2013285"/>
            <a:ext cx="10372120" cy="379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102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15289"/>
            <a:ext cx="9905998" cy="1478570"/>
          </a:xfrm>
        </p:spPr>
        <p:txBody>
          <a:bodyPr>
            <a:normAutofit/>
          </a:bodyPr>
          <a:lstStyle/>
          <a:p>
            <a:pPr algn="r" rtl="1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Confusion Matrix 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روی 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264" y="1951553"/>
            <a:ext cx="9905999" cy="3164723"/>
          </a:xfrm>
        </p:spPr>
        <p:txBody>
          <a:bodyPr>
            <a:normAutofit/>
          </a:bodyPr>
          <a:lstStyle/>
          <a:p>
            <a:pPr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AdaBoost: FN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کمتر اما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FP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بیشتر</a:t>
            </a:r>
          </a:p>
          <a:p>
            <a:pPr algn="r" rtl="1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LogReg+PCA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عملکرد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متعادل‌تر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انتخاب نهایی وابسته به </a:t>
            </a:r>
            <a:r>
              <a:rPr lang="fa-IR" b="1" dirty="0" err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سناریو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 پزشکی:</a:t>
            </a: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غربالگری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  <a:sym typeface="Wingdings" panose="05000000000000000000" pitchFamily="2" charset="2"/>
              </a:rPr>
              <a:t>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FN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مهم‌تر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تشخیص دقیق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  <a:sym typeface="Wingdings" panose="05000000000000000000" pitchFamily="2" charset="2"/>
              </a:rPr>
              <a:t>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FP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هم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مهم‌تر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می‌شود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D073C16-BD7B-4416-B71D-769B5EABC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5542"/>
            <a:ext cx="2842675" cy="24833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C7365A-9232-4654-8E0A-076316932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675" y="3794760"/>
            <a:ext cx="2792676" cy="24833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CE99BA-C9DD-4E82-BBB5-9EE144117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5350" y="3815541"/>
            <a:ext cx="2794165" cy="246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924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63808"/>
            <a:ext cx="9905998" cy="1478570"/>
          </a:xfrm>
        </p:spPr>
        <p:txBody>
          <a:bodyPr>
            <a:normAutofit/>
          </a:bodyPr>
          <a:lstStyle/>
          <a:p>
            <a:pPr algn="ctr" rtl="1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ROC Curve 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و 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ROC-AUC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4759" y="1884645"/>
            <a:ext cx="9905999" cy="3164723"/>
          </a:xfrm>
        </p:spPr>
        <p:txBody>
          <a:bodyPr>
            <a:normAutofit/>
          </a:bodyPr>
          <a:lstStyle/>
          <a:p>
            <a:pPr algn="r" rtl="1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ROC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: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تغییر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TPR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در برابر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FPR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با تغییر آستانه</a:t>
            </a:r>
          </a:p>
          <a:p>
            <a:pPr algn="r" rtl="1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ROC-AUC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قدرت تفکیک کلی (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آستانه‌ناوابسته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)</a:t>
            </a:r>
          </a:p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نتیجه کلی:</a:t>
            </a:r>
          </a:p>
          <a:p>
            <a:pPr lvl="1" algn="r" rtl="1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LogReg+PCA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معمولاً بالاتر/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پایدارتر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RF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و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AdaBoost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پایین‌تر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(طبق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خروجی‌ها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20032B-5718-47EB-8F48-43B497B13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84" y="2001180"/>
            <a:ext cx="5243969" cy="349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0187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110" y="284034"/>
            <a:ext cx="9905998" cy="1478570"/>
          </a:xfrm>
        </p:spPr>
        <p:txBody>
          <a:bodyPr>
            <a:normAutofit/>
          </a:bodyPr>
          <a:lstStyle/>
          <a:p>
            <a:pPr algn="ctr" rtl="1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PR Curve 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و 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Average Precision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7053" y="2269656"/>
            <a:ext cx="9905999" cy="3164723"/>
          </a:xfrm>
        </p:spPr>
        <p:txBody>
          <a:bodyPr>
            <a:normAutofit/>
          </a:bodyPr>
          <a:lstStyle/>
          <a:p>
            <a:pPr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PR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: Precision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در برابر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Recall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مناسب برای تمرکز روی کلاس مثبت (بیماران)</a:t>
            </a:r>
          </a:p>
          <a:p>
            <a:pPr algn="r" rtl="1"/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Average Precision (AP)</a:t>
            </a:r>
            <a:r>
              <a:rPr lang="fa-IR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خلاصه عملکرد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PR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نتیجه: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LogReg+PCA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معمولاً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AP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بالاتری دارد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50ABA3-ADEA-48BC-94CB-39EFD4C0D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21" y="2269656"/>
            <a:ext cx="5113907" cy="350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291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506" y="284034"/>
            <a:ext cx="9905998" cy="1478570"/>
          </a:xfrm>
        </p:spPr>
        <p:txBody>
          <a:bodyPr>
            <a:normAutofit/>
          </a:bodyPr>
          <a:lstStyle/>
          <a:p>
            <a:pPr algn="ctr" rtl="1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Learning Curve </a:t>
            </a:r>
            <a:b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</a:b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تشخیص 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overfitting/underfitting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8927" y="1892597"/>
            <a:ext cx="9905999" cy="3625887"/>
          </a:xfrm>
        </p:spPr>
        <p:txBody>
          <a:bodyPr>
            <a:normAutofit/>
          </a:bodyPr>
          <a:lstStyle/>
          <a:p>
            <a:pPr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مقایسه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train score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و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validation score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با افزایش داده</a:t>
            </a:r>
          </a:p>
          <a:p>
            <a:pPr algn="r" rtl="1"/>
            <a:r>
              <a:rPr lang="fa-IR" b="1" dirty="0" err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نشانه‌ها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:</a:t>
            </a: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شکاف زیاد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  <a:sym typeface="Wingdings" panose="05000000000000000000" pitchFamily="2" charset="2"/>
              </a:rPr>
              <a:t>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overfitting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هر دو پایین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  <a:sym typeface="Wingdings" panose="05000000000000000000" pitchFamily="2" charset="2"/>
              </a:rPr>
              <a:t> 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underfitting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برداشت کلی:</a:t>
            </a:r>
          </a:p>
          <a:p>
            <a:pPr lvl="1" algn="r" rtl="1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LogReg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پایدارتر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RF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ممکن است شکاف بیشتری داشته باشد (ظرفیت بالا)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04C133B8-041E-44E0-AFBA-7A61DA9EC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52" y="1762604"/>
            <a:ext cx="3068045" cy="23438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BB2CB2-CBBC-4D9D-A03F-8F0E85198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16" y="4106487"/>
            <a:ext cx="2834918" cy="2179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F5E82E-96DF-499A-A986-55E49EEF0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0661" y="3998317"/>
            <a:ext cx="2834918" cy="221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663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506" y="284034"/>
            <a:ext cx="9905998" cy="1478570"/>
          </a:xfrm>
        </p:spPr>
        <p:txBody>
          <a:bodyPr>
            <a:normAutofit/>
          </a:bodyPr>
          <a:lstStyle/>
          <a:p>
            <a:pPr algn="ctr" rtl="1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Calibration Curve 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(اعتماد به احتمال)</a:t>
            </a:r>
            <a:endParaRPr lang="en-US" sz="4400" dirty="0">
              <a:solidFill>
                <a:schemeClr val="accent2">
                  <a:lumMod val="75000"/>
                </a:schemeClr>
              </a:solidFill>
              <a:latin typeface="Rockwell" panose="02060603020205020403" pitchFamily="18" charset="0"/>
              <a:cs typeface="B Titr" panose="000007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8927" y="1892597"/>
            <a:ext cx="9905999" cy="3625887"/>
          </a:xfrm>
        </p:spPr>
        <p:txBody>
          <a:bodyPr>
            <a:normAutofit/>
          </a:bodyPr>
          <a:lstStyle/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سوال: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اگر مدل بگوید احتمال=0.8، واقعاً ~80% درست است؟</a:t>
            </a:r>
          </a:p>
          <a:p>
            <a:pPr algn="r" rtl="1"/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Calibration curve</a:t>
            </a:r>
            <a:r>
              <a:rPr lang="fa-IR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: </a:t>
            </a: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خط قطری =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کالیبراسیون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خوب</a:t>
            </a:r>
          </a:p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برداشت:</a:t>
            </a:r>
          </a:p>
          <a:p>
            <a:pPr lvl="1" algn="r" rtl="1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LogReg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معمولا بهتر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کالیبره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است</a:t>
            </a:r>
          </a:p>
          <a:p>
            <a:pPr lvl="1"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RF/AdaBoost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ممکن است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over/under-confident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باشند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CDC3F3B-1FDA-45A2-861D-3AF79CA06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28" y="1762604"/>
            <a:ext cx="2676929" cy="20945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108B5E-9143-4D6F-BD17-B61992352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28" y="3987098"/>
            <a:ext cx="2662310" cy="20945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015A1C-FC6E-47CA-AF22-672D3DAC0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5387" y="3909170"/>
            <a:ext cx="2762763" cy="217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55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506" y="284034"/>
            <a:ext cx="9905998" cy="1478570"/>
          </a:xfrm>
        </p:spPr>
        <p:txBody>
          <a:bodyPr>
            <a:normAutofit/>
          </a:bodyPr>
          <a:lstStyle/>
          <a:p>
            <a:pPr algn="ctr" rtl="1"/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توضیح پذیری با 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SHAP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505" y="1892597"/>
            <a:ext cx="9905999" cy="3625887"/>
          </a:xfrm>
        </p:spPr>
        <p:txBody>
          <a:bodyPr>
            <a:normAutofit/>
          </a:bodyPr>
          <a:lstStyle/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چرا </a:t>
            </a:r>
            <a:r>
              <a:rPr lang="fa-IR" b="1" dirty="0" err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توضیح‌پذیری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 نیاز است؟</a:t>
            </a: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اعتماد در حوزه پزشکی</a:t>
            </a: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فهم اینکه مدل روی چه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ویژگی‌هایی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تکیه دارد</a:t>
            </a:r>
          </a:p>
          <a:p>
            <a:pPr algn="r" rtl="1"/>
            <a:r>
              <a:rPr lang="en-US" b="1" dirty="0">
                <a:solidFill>
                  <a:schemeClr val="accent2">
                    <a:lumMod val="75000"/>
                  </a:schemeClr>
                </a:solidFill>
                <a:cs typeface="B Zar" panose="00000400000000000000" pitchFamily="2" charset="-78"/>
              </a:rPr>
              <a:t>SHAP</a:t>
            </a:r>
            <a:endParaRPr lang="fa-IR" b="1" dirty="0">
              <a:solidFill>
                <a:schemeClr val="accent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B Zar" panose="00000400000000000000" pitchFamily="2" charset="-78"/>
            </a:endParaRPr>
          </a:p>
          <a:p>
            <a:pPr lvl="1"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Global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: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اهمیت کلی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ویژگی‌ها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Local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: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دلیل تصمیم برای یک نمونه</a:t>
            </a:r>
          </a:p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تمرکز: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نسخه‌های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No-PCA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برای تفسیر مستقیم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ویژگی‌ها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25526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506" y="284034"/>
            <a:ext cx="9905998" cy="1478570"/>
          </a:xfrm>
        </p:spPr>
        <p:txBody>
          <a:bodyPr>
            <a:normAutofit/>
          </a:bodyPr>
          <a:lstStyle/>
          <a:p>
            <a:pPr algn="ctr" rtl="1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SHAP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برای </a:t>
            </a:r>
            <a:r>
              <a:rPr lang="en-US" sz="4400" dirty="0" err="1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LogReg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(No PCA)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505" y="2036976"/>
            <a:ext cx="9905999" cy="3641929"/>
          </a:xfrm>
        </p:spPr>
        <p:txBody>
          <a:bodyPr>
            <a:normAutofit/>
          </a:bodyPr>
          <a:lstStyle/>
          <a:p>
            <a:pPr algn="r" rtl="1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SHAP Summary (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Beeswarm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)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 :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توزیع اثر هر ویژگی</a:t>
            </a: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راست = افزایش احتمال بیماری</a:t>
            </a: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چپ = کاهش احتمال بیماری</a:t>
            </a:r>
          </a:p>
          <a:p>
            <a:pPr algn="r" rtl="1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SHAP Bar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 :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میانگین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SHAP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تفسیر:</a:t>
            </a: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علامت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SHAP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  <a:sym typeface="Wingdings" panose="05000000000000000000" pitchFamily="2" charset="2"/>
              </a:rPr>
              <a:t>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  <a:sym typeface="Wingdings" panose="05000000000000000000" pitchFamily="2" charset="2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افزایش/کاهش احتمال بیماری</a:t>
            </a: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رنگ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  <a:sym typeface="Wingdings" panose="05000000000000000000" pitchFamily="2" charset="2"/>
              </a:rPr>
              <a:t>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  <a:sym typeface="Wingdings" panose="05000000000000000000" pitchFamily="2" charset="2"/>
              </a:rPr>
              <a:t> 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مقدار پایین/بالای ویژگی</a:t>
            </a:r>
          </a:p>
        </p:txBody>
      </p:sp>
    </p:spTree>
    <p:extLst>
      <p:ext uri="{BB962C8B-B14F-4D97-AF65-F5344CB8AC3E}">
        <p14:creationId xmlns:p14="http://schemas.microsoft.com/office/powerpoint/2010/main" val="1408747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506" y="117780"/>
            <a:ext cx="9905998" cy="1478570"/>
          </a:xfrm>
        </p:spPr>
        <p:txBody>
          <a:bodyPr>
            <a:normAutofit/>
          </a:bodyPr>
          <a:lstStyle/>
          <a:p>
            <a:pPr algn="ctr" rtl="1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SHAP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برای </a:t>
            </a:r>
            <a:r>
              <a:rPr lang="en-US" sz="4400" dirty="0" err="1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LogReg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(No PCA)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0302FF-042E-4737-A00C-D27B9A8CB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17" y="1999167"/>
            <a:ext cx="5895988" cy="34197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7EF8CD-B040-4174-B5D7-0A2106A40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189" y="1999167"/>
            <a:ext cx="5183035" cy="341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1026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505" y="127278"/>
            <a:ext cx="9905998" cy="1478570"/>
          </a:xfrm>
        </p:spPr>
        <p:txBody>
          <a:bodyPr>
            <a:normAutofit/>
          </a:bodyPr>
          <a:lstStyle/>
          <a:p>
            <a:pPr algn="ctr" rtl="1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SHAP 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برای 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AdaBoost (No PCA)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690" y="1802602"/>
            <a:ext cx="9905999" cy="3641929"/>
          </a:xfrm>
        </p:spPr>
        <p:txBody>
          <a:bodyPr>
            <a:normAutofit/>
          </a:bodyPr>
          <a:lstStyle/>
          <a:p>
            <a:pPr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AdaBoost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تمرکز بر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نمونه‌های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سخت</a:t>
            </a:r>
          </a:p>
          <a:p>
            <a:pPr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برخی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ویژگی‌ها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برای کاهش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FN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برجسته‌ تر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می‌شوند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D1F8E6-18D5-44FD-9F82-87217387B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78" y="2775282"/>
            <a:ext cx="5802019" cy="32724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6EFBDA-176E-4532-A3AD-4D86260DA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504" y="2698022"/>
            <a:ext cx="5560174" cy="364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0757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338" y="175968"/>
            <a:ext cx="9905998" cy="1478570"/>
          </a:xfrm>
        </p:spPr>
        <p:txBody>
          <a:bodyPr>
            <a:normAutofit/>
          </a:bodyPr>
          <a:lstStyle/>
          <a:p>
            <a:pPr algn="ctr" rtl="1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SHAP 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برای 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RF (No PCA)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1337" y="1762604"/>
            <a:ext cx="9905999" cy="3641929"/>
          </a:xfrm>
        </p:spPr>
        <p:txBody>
          <a:bodyPr>
            <a:normAutofit/>
          </a:bodyPr>
          <a:lstStyle/>
          <a:p>
            <a:pPr algn="r" rtl="1"/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RF</a:t>
            </a:r>
            <a:r>
              <a:rPr lang="fa-IR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اثرهای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غیرخطی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و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آستانه‌ای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Beeswarm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: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نشان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می‌دهد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یک ویژگی در گروه‌ های مختلف اثر متفاوت دارد</a:t>
            </a:r>
          </a:p>
          <a:p>
            <a:pPr algn="r" rtl="1"/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Bar chart</a:t>
            </a:r>
            <a:r>
              <a:rPr lang="fa-IR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ویژگی ‌های غالب در تصمیم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RF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547A47-ED53-4D79-BE26-8C05E246E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95" y="3308967"/>
            <a:ext cx="5091517" cy="30473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3538B5-5164-4EAC-BCD4-BEE8650DB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336" y="3308967"/>
            <a:ext cx="4562562" cy="304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2450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005" y="126093"/>
            <a:ext cx="9905998" cy="1478570"/>
          </a:xfrm>
        </p:spPr>
        <p:txBody>
          <a:bodyPr>
            <a:normAutofit/>
          </a:bodyPr>
          <a:lstStyle/>
          <a:p>
            <a:pPr algn="ctr" rtl="1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SHAP: RF Scaled 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و 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RF Tuned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9770" y="1852479"/>
            <a:ext cx="9905999" cy="3641929"/>
          </a:xfrm>
        </p:spPr>
        <p:txBody>
          <a:bodyPr>
            <a:normAutofit/>
          </a:bodyPr>
          <a:lstStyle/>
          <a:p>
            <a:pPr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RF scaled ≈ RF Not scaled </a:t>
            </a: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تایید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بی‌اثری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scaling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از منظر اهمیت ویژگی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‌ها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RF tuned </a:t>
            </a:r>
            <a:r>
              <a:rPr lang="fa-IR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:</a:t>
            </a: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برخی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رتبه‌ها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/شدت اهمیت‌ ها تغییر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می‌کند</a:t>
            </a:r>
            <a:endParaRPr lang="fa-IR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چون ظرفیت و قانون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split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ها تغییر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می‌کند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743DC2-0A0B-41C7-BE3C-09C6DC489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25" y="3602113"/>
            <a:ext cx="4466780" cy="26809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8CBB5C-174D-4F3A-AD41-1C436D65C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637" y="3583713"/>
            <a:ext cx="4039804" cy="269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7025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506" y="284034"/>
            <a:ext cx="9905998" cy="1478570"/>
          </a:xfrm>
        </p:spPr>
        <p:txBody>
          <a:bodyPr>
            <a:normAutofit/>
          </a:bodyPr>
          <a:lstStyle/>
          <a:p>
            <a:pPr algn="ctr" rtl="1"/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</a:rPr>
              <a:t>SHAP: AdaBoost Tuned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505" y="1762604"/>
            <a:ext cx="9905999" cy="3641929"/>
          </a:xfrm>
        </p:spPr>
        <p:txBody>
          <a:bodyPr>
            <a:normAutofit/>
          </a:bodyPr>
          <a:lstStyle/>
          <a:p>
            <a:pPr algn="r" rtl="1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 tuning </a:t>
            </a:r>
            <a:r>
              <a:rPr lang="fa-IR" b="1" dirty="0" err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می‌تواند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: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B Zar" panose="00000400000000000000" pitchFamily="2" charset="-78"/>
            </a:endParaRP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تمرکز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ویژگی‌ها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را تغییر دهد</a:t>
            </a: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حساسیت به مثبت ‌ها را بالا/پایین کند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تفسیر:</a:t>
            </a: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تغییر در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اهمیت‌ها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را کنار تغییر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FN/FP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تحلیل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می‌کنیم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B Nazanin" panose="000004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079C2F-EF9B-48E2-9E71-74C2D8C26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13" y="3495502"/>
            <a:ext cx="4489731" cy="26929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A5665E-A1FA-4525-A1E4-1D12BF462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95502"/>
            <a:ext cx="4019048" cy="269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863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507" y="184281"/>
            <a:ext cx="9905998" cy="1478570"/>
          </a:xfrm>
        </p:spPr>
        <p:txBody>
          <a:bodyPr>
            <a:normAutofit/>
          </a:bodyPr>
          <a:lstStyle/>
          <a:p>
            <a:pPr algn="ctr" rtl="1"/>
            <a:r>
              <a:rPr lang="fa-IR" sz="4400" dirty="0" err="1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جمع‌بندی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نهایی (</a:t>
            </a:r>
            <a:r>
              <a:rPr lang="fa-IR" sz="4400" dirty="0" err="1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نتیجه‌گیری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</a:t>
            </a:r>
            <a:r>
              <a:rPr lang="fa-IR" sz="4400" dirty="0" err="1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کاربردمحور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)</a:t>
            </a:r>
            <a:endParaRPr lang="en-US" sz="4400" dirty="0">
              <a:solidFill>
                <a:schemeClr val="accent2">
                  <a:lumMod val="75000"/>
                </a:schemeClr>
              </a:solidFill>
              <a:latin typeface="Rockwell" panose="02060603020205020403" pitchFamily="18" charset="0"/>
              <a:cs typeface="B Titr" panose="000007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506" y="2043958"/>
            <a:ext cx="9905999" cy="3641929"/>
          </a:xfrm>
        </p:spPr>
        <p:txBody>
          <a:bodyPr>
            <a:normAutofit/>
          </a:bodyPr>
          <a:lstStyle/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بهترین کلی (پایداری +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AUC/AP 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 + </a:t>
            </a:r>
            <a:r>
              <a:rPr lang="fa-IR" b="1" dirty="0" err="1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کالیبراسیون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):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 </a:t>
            </a:r>
          </a:p>
          <a:p>
            <a:pPr lvl="1" algn="r" rtl="1"/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LogReg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+ PCA (Tuned)</a:t>
            </a:r>
          </a:p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بهترین برای کاهش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FN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(غربالگری):</a:t>
            </a:r>
          </a:p>
          <a:p>
            <a:pPr lvl="1" algn="r" rtl="1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AdaBoost (Tuned)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با پذیرش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FP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بیشتر</a:t>
            </a:r>
          </a:p>
          <a:p>
            <a:pPr algn="r" rtl="1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RF</a:t>
            </a:r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:</a:t>
            </a:r>
          </a:p>
          <a:p>
            <a:pPr lvl="1" algn="r" rtl="1"/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عملکرد مناسب ولی ریسک </a:t>
            </a:r>
            <a:r>
              <a:rPr lang="fa-IR" dirty="0" err="1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واریانس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در داده کوچک</a:t>
            </a:r>
          </a:p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B Zar" panose="00000400000000000000" pitchFamily="2" charset="-78"/>
              </a:rPr>
              <a:t>نتیجه کلیدی: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انتخاب مدل تابع هزینه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FN/FP </a:t>
            </a:r>
            <a:r>
              <a:rPr lang="fa-IR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 و هدف سیستم است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B Nazanin" panose="00000400000000000000" pitchFamily="2" charset="-7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55509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193" y="118682"/>
            <a:ext cx="9905998" cy="1478570"/>
          </a:xfrm>
        </p:spPr>
        <p:txBody>
          <a:bodyPr>
            <a:normAutofit/>
          </a:bodyPr>
          <a:lstStyle/>
          <a:p>
            <a:pPr algn="ctr" rtl="1"/>
            <a:r>
              <a:rPr lang="fa-IR" sz="4400" dirty="0" err="1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جمع‌بندی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نهایی (</a:t>
            </a:r>
            <a:r>
              <a:rPr lang="fa-IR" sz="4400" dirty="0" err="1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نتیجه‌گیری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 </a:t>
            </a:r>
            <a:r>
              <a:rPr lang="fa-IR" sz="4400" dirty="0" err="1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کاربردمحور</a:t>
            </a:r>
            <a:r>
              <a:rPr lang="fa-IR" sz="4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B Titr" panose="00000700000000000000" pitchFamily="2" charset="-78"/>
              </a:rPr>
              <a:t>)</a:t>
            </a:r>
            <a:endParaRPr lang="en-US" sz="4400" dirty="0">
              <a:solidFill>
                <a:schemeClr val="accent2">
                  <a:lumMod val="75000"/>
                </a:schemeClr>
              </a:solidFill>
              <a:latin typeface="Rockwell" panose="02060603020205020403" pitchFamily="18" charset="0"/>
              <a:cs typeface="B Titr" panose="00000700000000000000" pitchFamily="2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828EA3-B127-4727-91F6-1FCE19E13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509" y="1888197"/>
            <a:ext cx="8768274" cy="26757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3C4D98-C5C9-4136-A60C-E50905A4D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217" y="4563902"/>
            <a:ext cx="8848920" cy="178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63994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866CFD-F94E-4AE5-ACEA-86FEC0F48A10}">
  <ds:schemaRefs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16c05727-aa75-4e4a-9b5f-8a80a1165891"/>
    <ds:schemaRef ds:uri="71af3243-3dd4-4a8d-8c0d-dd76da1f02a5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1196</Words>
  <Application>Microsoft Office PowerPoint</Application>
  <PresentationFormat>Widescreen</PresentationFormat>
  <Paragraphs>192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B Titr</vt:lpstr>
      <vt:lpstr>B Zar</vt:lpstr>
      <vt:lpstr>Calibri</vt:lpstr>
      <vt:lpstr>Calibri Light</vt:lpstr>
      <vt:lpstr>Rockwell</vt:lpstr>
      <vt:lpstr>Tahoma</vt:lpstr>
      <vt:lpstr>Retrospect</vt:lpstr>
      <vt:lpstr>پروژه پایانی:  پیش‌بینی بیماری قلبی با یادگیری ماشین</vt:lpstr>
      <vt:lpstr>تعریف مسئله و اهمیت متریک‌ها</vt:lpstr>
      <vt:lpstr>معرفی دیتاست و توزیع کلاس‌ها</vt:lpstr>
      <vt:lpstr>ویژگی‌ها و منطق تفکیک</vt:lpstr>
      <vt:lpstr>Pipeline  و جلوگیری از Leakage</vt:lpstr>
      <vt:lpstr>جزئیات پیش‌ پردازش</vt:lpstr>
      <vt:lpstr>EDA: همبستگی ویژگی ‌های عددی</vt:lpstr>
      <vt:lpstr>آزمایش اثر  Scalingروی Random Forest</vt:lpstr>
      <vt:lpstr> PCA هدف و نحوه استفاده</vt:lpstr>
      <vt:lpstr> Scree و واریانس تجمعی PCA</vt:lpstr>
      <vt:lpstr> t-SNE برای نمایش دوبعدی</vt:lpstr>
      <vt:lpstr> مدل‌ های انتخاب ‌شده و دلیل انتخاب</vt:lpstr>
      <vt:lpstr> پروتکل ارزیابی و تکرارپذیری</vt:lpstr>
      <vt:lpstr>چارچوب Hyperparameter Tuning </vt:lpstr>
      <vt:lpstr> تیونینگ LogReg + PCA (نتیجه و تفسیر)</vt:lpstr>
      <vt:lpstr> تیونینگ Random Forest ( پارامترها و منطق)</vt:lpstr>
      <vt:lpstr>تیونینگ AdaBoost(نتیجه و برداشت) </vt:lpstr>
      <vt:lpstr>مقایسه مقادیرخروجی تیون شده و تیون نشده</vt:lpstr>
      <vt:lpstr>Confusion Matrix  روی TEST</vt:lpstr>
      <vt:lpstr> ROC Curve و ROC-AUC</vt:lpstr>
      <vt:lpstr> PR Curve و Average Precision</vt:lpstr>
      <vt:lpstr>Learning Curve  تشخیص overfitting/underfitting</vt:lpstr>
      <vt:lpstr>Calibration Curve (اعتماد به احتمال)</vt:lpstr>
      <vt:lpstr>توضیح پذیری با SHAP</vt:lpstr>
      <vt:lpstr>SHAP  برای LogReg (No PCA)</vt:lpstr>
      <vt:lpstr>SHAP  برای LogReg (No PCA)</vt:lpstr>
      <vt:lpstr>SHAP برای AdaBoost (No PCA)</vt:lpstr>
      <vt:lpstr>SHAP  برای RF (No PCA)</vt:lpstr>
      <vt:lpstr>SHAP: RF Scaled و RF Tuned</vt:lpstr>
      <vt:lpstr>SHAP: AdaBoost Tuned</vt:lpstr>
      <vt:lpstr>جمع‌بندی نهایی (نتیجه‌گیری کاربردمحور)</vt:lpstr>
      <vt:lpstr>جمع‌بندی نهایی (نتیجه‌گیری کاربردمحور)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2026-02-11T18:36:20Z</dcterms:created>
  <dcterms:modified xsi:type="dcterms:W3CDTF">2026-02-15T13:55:45Z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